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9"/>
  </p:notesMasterIdLst>
  <p:handoutMasterIdLst>
    <p:handoutMasterId r:id="rId20"/>
  </p:handoutMasterIdLst>
  <p:sldIdLst>
    <p:sldId id="410" r:id="rId5"/>
    <p:sldId id="383" r:id="rId6"/>
    <p:sldId id="406" r:id="rId7"/>
    <p:sldId id="411" r:id="rId8"/>
    <p:sldId id="417" r:id="rId9"/>
    <p:sldId id="418" r:id="rId10"/>
    <p:sldId id="397" r:id="rId11"/>
    <p:sldId id="420" r:id="rId12"/>
    <p:sldId id="419" r:id="rId13"/>
    <p:sldId id="421" r:id="rId14"/>
    <p:sldId id="422" r:id="rId15"/>
    <p:sldId id="424" r:id="rId16"/>
    <p:sldId id="425" r:id="rId17"/>
    <p:sldId id="42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6327" autoAdjust="0"/>
  </p:normalViewPr>
  <p:slideViewPr>
    <p:cSldViewPr snapToGrid="0">
      <p:cViewPr varScale="1">
        <p:scale>
          <a:sx n="105" d="100"/>
          <a:sy n="105" d="100"/>
        </p:scale>
        <p:origin x="120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3/14/2025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09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680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458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474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972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804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097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20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9898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005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CERTIFIED DATA SCIENTIST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831B2-714E-24ED-67F5-DFD2973BD730}"/>
              </a:ext>
            </a:extLst>
          </p:cNvPr>
          <p:cNvSpPr txBox="1"/>
          <p:nvPr/>
        </p:nvSpPr>
        <p:spPr>
          <a:xfrm>
            <a:off x="6309904" y="4076438"/>
            <a:ext cx="484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PEOPLE INFORMATION TECHNOLOGY PROGRAM</a:t>
            </a:r>
          </a:p>
          <a:p>
            <a:r>
              <a:rPr lang="en-US" dirty="0">
                <a:solidFill>
                  <a:schemeClr val="bg1"/>
                </a:solidFill>
              </a:rPr>
              <a:t>Lecture 03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BF04E-21D3-35CC-8869-5D37997FF84F}"/>
              </a:ext>
            </a:extLst>
          </p:cNvPr>
          <p:cNvSpPr txBox="1"/>
          <p:nvPr/>
        </p:nvSpPr>
        <p:spPr>
          <a:xfrm>
            <a:off x="6309904" y="5783318"/>
            <a:ext cx="484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Muhammad Nabeel Ibrahim Khan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NED University of Engineering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4" y="2281239"/>
            <a:ext cx="7864475" cy="2702242"/>
          </a:xfrm>
        </p:spPr>
        <p:txBody>
          <a:bodyPr tIns="457200">
            <a:normAutofit/>
          </a:bodyPr>
          <a:lstStyle/>
          <a:p>
            <a:r>
              <a:rPr lang="en-US" dirty="0"/>
              <a:t>Product Approach</a:t>
            </a:r>
          </a:p>
          <a:p>
            <a:r>
              <a:rPr lang="en-US" dirty="0"/>
              <a:t>Data Science Portfolio</a:t>
            </a:r>
          </a:p>
          <a:p>
            <a:r>
              <a:rPr lang="en-US" dirty="0"/>
              <a:t>Job Market for Data Scientists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anchor="b">
            <a:normAutofit/>
          </a:bodyPr>
          <a:lstStyle/>
          <a:p>
            <a:r>
              <a:rPr lang="en-US" dirty="0"/>
              <a:t>Group Activity – Brainstorming Project Ideas</a:t>
            </a:r>
          </a:p>
        </p:txBody>
      </p:sp>
      <p:pic>
        <p:nvPicPr>
          <p:cNvPr id="10" name="Picture Placeholder 9" descr="A group of people sitting at a table with laptops and a light bulb above them&#10;&#10;Description automatically generated">
            <a:extLst>
              <a:ext uri="{FF2B5EF4-FFF2-40B4-BE49-F238E27FC236}">
                <a16:creationId xmlns:a16="http://schemas.microsoft.com/office/drawing/2014/main" id="{AD298BB9-B618-44CA-0506-546C619BA4C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94360" y="3013318"/>
            <a:ext cx="4490827" cy="2923883"/>
          </a:xfrm>
          <a:noFill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B6311-F936-71AE-6BC0-83F0812D21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Think of a simple data science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What problem does the model solve?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How will the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user interact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with it?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How will you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deploy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the model?</a:t>
            </a:r>
          </a:p>
          <a:p>
            <a:endParaRPr lang="en-PK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What is the Product Approach?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098357"/>
            <a:ext cx="7810500" cy="4473887"/>
          </a:xfrm>
        </p:spPr>
        <p:txBody>
          <a:bodyPr>
            <a:normAutofit/>
          </a:bodyPr>
          <a:lstStyle/>
          <a:p>
            <a:r>
              <a:rPr lang="en-US" dirty="0"/>
              <a:t>Students often focus on building models, but in industry, the focus is on turning models into products that solve business problems.</a:t>
            </a:r>
          </a:p>
          <a:p>
            <a:r>
              <a:rPr lang="en-US" dirty="0"/>
              <a:t>Data science products are often integrated into apps, websites, or tools that non-technical users can interact with.</a:t>
            </a:r>
          </a:p>
          <a:p>
            <a:r>
              <a:rPr lang="en-US" dirty="0"/>
              <a:t>The goal is to make your models useful for people or businesses by building applications around them.</a:t>
            </a:r>
          </a:p>
          <a:p>
            <a:r>
              <a:rPr lang="en-US" dirty="0"/>
              <a:t>In product development, your model might need constant updates and improvements based on user feedback.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3965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Tools to Help You Productize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098357"/>
            <a:ext cx="7810500" cy="4473887"/>
          </a:xfrm>
        </p:spPr>
        <p:txBody>
          <a:bodyPr>
            <a:normAutofit/>
          </a:bodyPr>
          <a:lstStyle/>
          <a:p>
            <a:r>
              <a:rPr lang="en-US" dirty="0" err="1"/>
              <a:t>Streamlit</a:t>
            </a:r>
            <a:r>
              <a:rPr lang="en-US" dirty="0"/>
              <a:t>: A framework for turning Python scripts into interactive web applications.</a:t>
            </a:r>
          </a:p>
          <a:p>
            <a:r>
              <a:rPr lang="en-US" dirty="0"/>
              <a:t>Flask/Django: Python web frameworks to build and deploy data science models as web apps.</a:t>
            </a:r>
          </a:p>
          <a:p>
            <a:r>
              <a:rPr lang="en-US" dirty="0"/>
              <a:t>Heroku/Google Cloud/AWS: Platforms to deploy and host your models and applications.</a:t>
            </a:r>
          </a:p>
          <a:p>
            <a:r>
              <a:rPr lang="en-US" dirty="0"/>
              <a:t>Docker: Use Docker to containerize and deploy your models easily across environments.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098" name="Picture 2" descr="Streamlit Logo PNG Vector (SVG) Free ...">
            <a:extLst>
              <a:ext uri="{FF2B5EF4-FFF2-40B4-BE49-F238E27FC236}">
                <a16:creationId xmlns:a16="http://schemas.microsoft.com/office/drawing/2014/main" id="{91B54DAE-0A66-45B7-E93F-B1A30ABCC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59" y="2355317"/>
            <a:ext cx="1108990" cy="60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Flask Logo icon PNG and SVG Vector Free ...">
            <a:extLst>
              <a:ext uri="{FF2B5EF4-FFF2-40B4-BE49-F238E27FC236}">
                <a16:creationId xmlns:a16="http://schemas.microsoft.com/office/drawing/2014/main" id="{41F0B506-2C16-6D95-AC3B-8C79913A2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562" y="2939759"/>
            <a:ext cx="752291" cy="752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django-python-logo – OPENGIS.ch">
            <a:extLst>
              <a:ext uri="{FF2B5EF4-FFF2-40B4-BE49-F238E27FC236}">
                <a16:creationId xmlns:a16="http://schemas.microsoft.com/office/drawing/2014/main" id="{E26AB970-D6BB-AB55-F6C5-332211739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894" y="2253399"/>
            <a:ext cx="968332" cy="96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Heroku Logo PNG vector in SVG, PDF, AI ...">
            <a:extLst>
              <a:ext uri="{FF2B5EF4-FFF2-40B4-BE49-F238E27FC236}">
                <a16:creationId xmlns:a16="http://schemas.microsoft.com/office/drawing/2014/main" id="{6151C2C4-7107-BD9B-1CC6-68D4C6397C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6" b="4372"/>
          <a:stretch/>
        </p:blipFill>
        <p:spPr bwMode="auto">
          <a:xfrm>
            <a:off x="162359" y="3140942"/>
            <a:ext cx="1058628" cy="88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Google Cloud Logo, symbol, meaning ...">
            <a:extLst>
              <a:ext uri="{FF2B5EF4-FFF2-40B4-BE49-F238E27FC236}">
                <a16:creationId xmlns:a16="http://schemas.microsoft.com/office/drawing/2014/main" id="{78FC0366-209B-2C4A-1DB6-3643D93F2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913" y="3553683"/>
            <a:ext cx="1058627" cy="59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Download Amazon Web Services (AWS) Logo ...">
            <a:extLst>
              <a:ext uri="{FF2B5EF4-FFF2-40B4-BE49-F238E27FC236}">
                <a16:creationId xmlns:a16="http://schemas.microsoft.com/office/drawing/2014/main" id="{5A20115A-BA6D-7440-174D-20C585554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23" y="3263332"/>
            <a:ext cx="752291" cy="50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Microsoft Azure (Windows Azure) Logo ...">
            <a:extLst>
              <a:ext uri="{FF2B5EF4-FFF2-40B4-BE49-F238E27FC236}">
                <a16:creationId xmlns:a16="http://schemas.microsoft.com/office/drawing/2014/main" id="{F07DD061-DE8B-03C2-5405-9C707B6F1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216" y="3901743"/>
            <a:ext cx="998217" cy="66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 descr="Esxi-Logo | Virtual Reality">
            <a:extLst>
              <a:ext uri="{FF2B5EF4-FFF2-40B4-BE49-F238E27FC236}">
                <a16:creationId xmlns:a16="http://schemas.microsoft.com/office/drawing/2014/main" id="{05748DD8-3983-D8A6-F0F6-F45A789F7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569" y="4157756"/>
            <a:ext cx="639704" cy="639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0" name="Picture 24" descr="Logo, Icon, and Brand Guidelines | Docker">
            <a:extLst>
              <a:ext uri="{FF2B5EF4-FFF2-40B4-BE49-F238E27FC236}">
                <a16:creationId xmlns:a16="http://schemas.microsoft.com/office/drawing/2014/main" id="{61680B72-9552-CD5C-4672-0B4E814C3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92" b="27966"/>
          <a:stretch/>
        </p:blipFill>
        <p:spPr bwMode="auto">
          <a:xfrm>
            <a:off x="1797990" y="4659916"/>
            <a:ext cx="1424443" cy="651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839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Building a Data Science Portfolio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5768" y="2098357"/>
            <a:ext cx="8752332" cy="4473887"/>
          </a:xfrm>
        </p:spPr>
        <p:txBody>
          <a:bodyPr>
            <a:normAutofit/>
          </a:bodyPr>
          <a:lstStyle/>
          <a:p>
            <a:r>
              <a:rPr lang="en-US" dirty="0"/>
              <a:t>A data science portfolio is a collection of projects that showcase your skills, experience, and expertise in solving real-world problems using data science techniques.</a:t>
            </a:r>
          </a:p>
          <a:p>
            <a:r>
              <a:rPr lang="en-US" dirty="0"/>
              <a:t>Why Build a Portfolio?</a:t>
            </a:r>
          </a:p>
          <a:p>
            <a:pPr lvl="1"/>
            <a:r>
              <a:rPr lang="en-US" dirty="0"/>
              <a:t>Employers look for proof of practical experience beyond just certifications. A portfolio shows that you can apply your skills.</a:t>
            </a:r>
          </a:p>
          <a:p>
            <a:pPr lvl="1"/>
            <a:r>
              <a:rPr lang="en-US" dirty="0"/>
              <a:t>Your portfolio can include various skills like data wrangling, visualization, machine learning, and even deployment of models as apps.</a:t>
            </a:r>
          </a:p>
          <a:p>
            <a:pPr lvl="1"/>
            <a:r>
              <a:rPr lang="en-US" dirty="0"/>
              <a:t>It encourages you to build and learn through hands-on projects, demonstrating growth over time.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2308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Example</a:t>
            </a:r>
            <a:br>
              <a:rPr lang="en-US" dirty="0"/>
            </a:br>
            <a:r>
              <a:rPr lang="en-US" dirty="0"/>
              <a:t>Data Science Portfolio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BB28F6-EE8A-2961-F8A4-A038EB19C830}"/>
              </a:ext>
            </a:extLst>
          </p:cNvPr>
          <p:cNvSpPr txBox="1"/>
          <p:nvPr/>
        </p:nvSpPr>
        <p:spPr>
          <a:xfrm>
            <a:off x="6382512" y="4251960"/>
            <a:ext cx="5550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https://www.kaggle.com/discussions/general/272441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Job Market for Data Scientists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098357"/>
            <a:ext cx="7682484" cy="447388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300" b="1" dirty="0"/>
              <a:t>Data Scientist</a:t>
            </a:r>
          </a:p>
          <a:p>
            <a:pPr marL="0" indent="0">
              <a:buNone/>
            </a:pPr>
            <a:r>
              <a:rPr lang="en-US" dirty="0"/>
              <a:t>Data Scientists study complex datasets to extract meaningful insights, helping organizations make data-driven decisions. </a:t>
            </a:r>
          </a:p>
          <a:p>
            <a:r>
              <a:rPr lang="en-US" dirty="0"/>
              <a:t>Key Responsibilities:</a:t>
            </a:r>
          </a:p>
          <a:p>
            <a:pPr lvl="1"/>
            <a:r>
              <a:rPr lang="en-US" b="1" dirty="0"/>
              <a:t>Collecting and processing</a:t>
            </a:r>
            <a:r>
              <a:rPr lang="en-US" dirty="0"/>
              <a:t> large datasets.</a:t>
            </a:r>
          </a:p>
          <a:p>
            <a:pPr lvl="1"/>
            <a:r>
              <a:rPr lang="en-US" dirty="0"/>
              <a:t>Building predictive models to solve business problems.</a:t>
            </a:r>
          </a:p>
          <a:p>
            <a:pPr lvl="1"/>
            <a:r>
              <a:rPr lang="en-US" b="1" dirty="0"/>
              <a:t>Visualizing</a:t>
            </a:r>
            <a:r>
              <a:rPr lang="en-US" dirty="0"/>
              <a:t> data to communicate insights.</a:t>
            </a:r>
          </a:p>
          <a:p>
            <a:pPr lvl="1"/>
            <a:r>
              <a:rPr lang="en-US" dirty="0"/>
              <a:t>Working with stakeholders to address their </a:t>
            </a:r>
            <a:r>
              <a:rPr lang="en-US" b="1" dirty="0"/>
              <a:t>data needs</a:t>
            </a:r>
            <a:r>
              <a:rPr lang="en-US" dirty="0"/>
              <a:t>.</a:t>
            </a:r>
          </a:p>
          <a:p>
            <a:r>
              <a:rPr lang="en-US" dirty="0"/>
              <a:t>Required Skills:</a:t>
            </a:r>
          </a:p>
          <a:p>
            <a:pPr lvl="1"/>
            <a:r>
              <a:rPr lang="en-US" dirty="0"/>
              <a:t>Strong programming skills (Python, R).</a:t>
            </a:r>
          </a:p>
          <a:p>
            <a:pPr lvl="1"/>
            <a:r>
              <a:rPr lang="en-US" dirty="0"/>
              <a:t>Expertise in statistical analysis and visualization tools.</a:t>
            </a:r>
          </a:p>
          <a:p>
            <a:pPr lvl="1"/>
            <a:r>
              <a:rPr lang="en-US" dirty="0"/>
              <a:t>Knowledge of machine learning algorithms and data preprocessing techniques.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14B07A7-7998-C166-11B4-BE5491475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7" y="2354926"/>
            <a:ext cx="3276410" cy="154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92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Job Market for Data Scientists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36392" y="1901158"/>
            <a:ext cx="8223959" cy="44738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Machine Learning Engineer</a:t>
            </a:r>
          </a:p>
          <a:p>
            <a:r>
              <a:rPr lang="en-US" dirty="0"/>
              <a:t>Machine Learning (ML) Engineers develop and implement ML models that enable machines to learn from data and make predictions or decisions. </a:t>
            </a:r>
          </a:p>
          <a:p>
            <a:r>
              <a:rPr lang="en-US" dirty="0"/>
              <a:t>Key Responsibilities:</a:t>
            </a:r>
          </a:p>
          <a:p>
            <a:pPr lvl="1"/>
            <a:r>
              <a:rPr lang="en-US" dirty="0"/>
              <a:t>Designing and developing algorithms for data analysis and prediction.</a:t>
            </a:r>
          </a:p>
          <a:p>
            <a:pPr lvl="1"/>
            <a:r>
              <a:rPr lang="en-US" dirty="0"/>
              <a:t>Implementing supervised, unsupervised, and reinforcement learning models.</a:t>
            </a:r>
          </a:p>
          <a:p>
            <a:pPr lvl="1"/>
            <a:r>
              <a:rPr lang="en-US" dirty="0"/>
              <a:t>Evaluating and optimizing model performance.</a:t>
            </a:r>
          </a:p>
          <a:p>
            <a:pPr lvl="1"/>
            <a:r>
              <a:rPr lang="en-US" dirty="0"/>
              <a:t>Collaborating with data scientists to integrate ML solutions into products.</a:t>
            </a:r>
          </a:p>
          <a:p>
            <a:r>
              <a:rPr lang="en-US" dirty="0"/>
              <a:t>Required Skills:</a:t>
            </a:r>
          </a:p>
          <a:p>
            <a:pPr lvl="1"/>
            <a:r>
              <a:rPr lang="en-US" dirty="0"/>
              <a:t>Experience with ML frameworks such as TensorFlow and </a:t>
            </a:r>
            <a:r>
              <a:rPr lang="en-US" dirty="0" err="1"/>
              <a:t>PyTorch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Strong grasp of statistics and linear algebra.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B75D434-29D2-C649-B3A1-84292A53E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77" y="2295420"/>
            <a:ext cx="3252216" cy="160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87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Job Market for Data Scientists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39896" y="1901953"/>
            <a:ext cx="7728204" cy="46702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/>
              <a:t>AI Research Scientist</a:t>
            </a:r>
          </a:p>
          <a:p>
            <a:pPr marL="0" indent="0">
              <a:buNone/>
            </a:pPr>
            <a:r>
              <a:rPr lang="en-US" dirty="0"/>
              <a:t>AI Research Scientists push the boundaries of AI through cutting-edge research and experimentation. They often work in academia or research labs, contributing to advancements in the field</a:t>
            </a:r>
          </a:p>
          <a:p>
            <a:pPr marL="0" indent="0">
              <a:buNone/>
            </a:pPr>
            <a:r>
              <a:rPr lang="en-US" dirty="0"/>
              <a:t>Key Responsibilities:</a:t>
            </a:r>
          </a:p>
          <a:p>
            <a:pPr lvl="1"/>
            <a:r>
              <a:rPr lang="en-US" dirty="0"/>
              <a:t>Researching to explore new AI methods and techniques.</a:t>
            </a:r>
          </a:p>
          <a:p>
            <a:pPr lvl="1"/>
            <a:r>
              <a:rPr lang="en-US" dirty="0"/>
              <a:t>Publishing research papers and presenting at conferences.</a:t>
            </a:r>
          </a:p>
          <a:p>
            <a:pPr lvl="1"/>
            <a:r>
              <a:rPr lang="en-US" dirty="0"/>
              <a:t>Collaborating with teams to apply research to real-world problems.</a:t>
            </a:r>
          </a:p>
          <a:p>
            <a:r>
              <a:rPr lang="en-US" dirty="0"/>
              <a:t>Required Skills:</a:t>
            </a:r>
          </a:p>
          <a:p>
            <a:pPr lvl="1"/>
            <a:r>
              <a:rPr lang="en-US" dirty="0"/>
              <a:t>Advanced degree (usually a Ph.D.) in computer science, AI, or related fields.</a:t>
            </a:r>
          </a:p>
          <a:p>
            <a:pPr lvl="1"/>
            <a:r>
              <a:rPr lang="en-US" dirty="0"/>
              <a:t>Strong background in mathematics, including calculus, probability, and statistics.</a:t>
            </a:r>
          </a:p>
          <a:p>
            <a:pPr lvl="1"/>
            <a:r>
              <a:rPr lang="en-US" dirty="0"/>
              <a:t>Proficiency in AI frameworks and programming.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54A8DCA-FEFE-1DF3-C8AB-8A20E62AB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12" y="2384257"/>
            <a:ext cx="3277984" cy="155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76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Job Market for Data Scientists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03320" y="1901953"/>
            <a:ext cx="7764780" cy="467029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300" b="1" dirty="0"/>
              <a:t>AI Ethicist / Compliance Officer</a:t>
            </a:r>
          </a:p>
          <a:p>
            <a:pPr marL="0" indent="0">
              <a:buNone/>
            </a:pPr>
            <a:r>
              <a:rPr lang="en-US" dirty="0"/>
              <a:t>AI Ethicists ensure that AI systems are designed and used ethically. They help organizations navigate the ethical and societal implications of AI technologies.</a:t>
            </a:r>
          </a:p>
          <a:p>
            <a:pPr marL="0" indent="0">
              <a:buNone/>
            </a:pPr>
            <a:r>
              <a:rPr lang="en-US" dirty="0"/>
              <a:t>Key Responsibilities:</a:t>
            </a:r>
          </a:p>
          <a:p>
            <a:pPr lvl="1"/>
            <a:r>
              <a:rPr lang="en-US" dirty="0"/>
              <a:t>Evaluating the ethical implications of AI technologies.</a:t>
            </a:r>
          </a:p>
          <a:p>
            <a:pPr lvl="1"/>
            <a:r>
              <a:rPr lang="en-US" dirty="0"/>
              <a:t>Developing guidelines for responsible AI use.</a:t>
            </a:r>
          </a:p>
          <a:p>
            <a:pPr lvl="1"/>
            <a:r>
              <a:rPr lang="en-US" dirty="0"/>
              <a:t>Conducting risk assessments and suggesting mitigations for ethical concerns.</a:t>
            </a:r>
          </a:p>
          <a:p>
            <a:r>
              <a:rPr lang="en-US" dirty="0"/>
              <a:t>Required Skills:</a:t>
            </a:r>
          </a:p>
          <a:p>
            <a:pPr lvl="1"/>
            <a:r>
              <a:rPr lang="en-US" dirty="0"/>
              <a:t>Strong background in ethics or philosophy.</a:t>
            </a:r>
          </a:p>
          <a:p>
            <a:pPr lvl="1"/>
            <a:r>
              <a:rPr lang="en-US" dirty="0"/>
              <a:t>Understanding of AI technologies and their societal impact.</a:t>
            </a:r>
          </a:p>
          <a:p>
            <a:pPr lvl="1"/>
            <a:r>
              <a:rPr lang="en-US" dirty="0"/>
              <a:t>Excellent communication and analytical skills.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6083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Job Market for Data Scientists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1901953"/>
            <a:ext cx="7682484" cy="46702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PK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MLOps</a:t>
            </a:r>
            <a:r>
              <a:rPr lang="en-PK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Engineer</a:t>
            </a:r>
            <a:endParaRPr lang="en-US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/>
              <a:t>MLOps</a:t>
            </a:r>
            <a:r>
              <a:rPr lang="en-US" dirty="0"/>
              <a:t> Engineers ensure that machine learning models are effectively deployed and maintained in production environments, automating key processes for model deployment and monitoring.</a:t>
            </a:r>
          </a:p>
          <a:p>
            <a:pPr marL="0" indent="0">
              <a:buNone/>
            </a:pPr>
            <a:r>
              <a:rPr lang="en-US" dirty="0"/>
              <a:t>Key Responsibilities:</a:t>
            </a:r>
          </a:p>
          <a:p>
            <a:pPr lvl="1"/>
            <a:r>
              <a:rPr lang="en-US" dirty="0"/>
              <a:t>Implementing CI/CD (continuous integration/continuous delivery) pipelines for ML models.</a:t>
            </a:r>
          </a:p>
          <a:p>
            <a:pPr lvl="1"/>
            <a:r>
              <a:rPr lang="en-US" dirty="0"/>
              <a:t>Monitoring model performance and automating retraining.</a:t>
            </a:r>
          </a:p>
          <a:p>
            <a:pPr lvl="1"/>
            <a:r>
              <a:rPr lang="en-US" dirty="0"/>
              <a:t>Ensuring scalability and reliability of ML systems.</a:t>
            </a:r>
          </a:p>
          <a:p>
            <a:r>
              <a:rPr lang="en-US" dirty="0"/>
              <a:t>Required Skills:</a:t>
            </a:r>
          </a:p>
          <a:p>
            <a:pPr lvl="1"/>
            <a:r>
              <a:rPr lang="en-US" dirty="0"/>
              <a:t>Strong understanding of </a:t>
            </a:r>
            <a:r>
              <a:rPr lang="en-US" b="1" dirty="0"/>
              <a:t>DevOps</a:t>
            </a:r>
            <a:r>
              <a:rPr lang="en-US" dirty="0"/>
              <a:t> tools and practices.</a:t>
            </a:r>
          </a:p>
          <a:p>
            <a:pPr lvl="1"/>
            <a:r>
              <a:rPr lang="en-US" dirty="0"/>
              <a:t>Experience with </a:t>
            </a:r>
            <a:r>
              <a:rPr lang="en-US" b="1" dirty="0"/>
              <a:t>cloud</a:t>
            </a:r>
            <a:r>
              <a:rPr lang="en-US" dirty="0"/>
              <a:t> platforms (AWS, GCP, Azure) and ML frameworks.</a:t>
            </a:r>
          </a:p>
          <a:p>
            <a:pPr lvl="1"/>
            <a:r>
              <a:rPr lang="en-US" dirty="0"/>
              <a:t>Proficiency in </a:t>
            </a:r>
            <a:r>
              <a:rPr lang="en-US" b="1" dirty="0"/>
              <a:t>containerization technologies </a:t>
            </a:r>
            <a:r>
              <a:rPr lang="en-US" dirty="0"/>
              <a:t>(e.g., Docker, Kubernetes).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30893EB-34E5-99EB-9453-CF6CB38E7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12" y="2374600"/>
            <a:ext cx="2934109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23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Job Market for Data Scientists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6472" y="1901953"/>
            <a:ext cx="7691628" cy="46702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PK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Engineer</a:t>
            </a:r>
            <a:endParaRPr lang="en-US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/>
              <a:t>Data Engineers design and manage the data infrastructure, ensuring that data is reliable, accessible, and ready for analysis.</a:t>
            </a:r>
          </a:p>
          <a:p>
            <a:pPr marL="0" indent="0">
              <a:buNone/>
            </a:pPr>
            <a:r>
              <a:rPr lang="en-US" dirty="0"/>
              <a:t>Key Responsibilities:</a:t>
            </a:r>
          </a:p>
          <a:p>
            <a:pPr lvl="1"/>
            <a:r>
              <a:rPr lang="en-US" dirty="0"/>
              <a:t>Building and maintaining data pipelines.</a:t>
            </a:r>
          </a:p>
          <a:p>
            <a:pPr lvl="1"/>
            <a:r>
              <a:rPr lang="en-US" dirty="0"/>
              <a:t>Ensuring data quality and reliability.</a:t>
            </a:r>
          </a:p>
          <a:p>
            <a:pPr lvl="1"/>
            <a:r>
              <a:rPr lang="en-US" dirty="0"/>
              <a:t>Collaborating with data scientists to understand data requirements.</a:t>
            </a:r>
          </a:p>
          <a:p>
            <a:r>
              <a:rPr lang="en-US" dirty="0"/>
              <a:t>Required Skills:</a:t>
            </a:r>
          </a:p>
          <a:p>
            <a:pPr lvl="1"/>
            <a:r>
              <a:rPr lang="en-US" dirty="0"/>
              <a:t>Proficiency in SQL and database management systems.</a:t>
            </a:r>
          </a:p>
          <a:p>
            <a:pPr lvl="1"/>
            <a:r>
              <a:rPr lang="en-US" dirty="0"/>
              <a:t>Experience with big data technologies (Hadoop, Spark).</a:t>
            </a:r>
          </a:p>
          <a:p>
            <a:pPr lvl="1"/>
            <a:r>
              <a:rPr lang="en-US" dirty="0"/>
              <a:t>Strong programming skills (Python, Java).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ED470FF-1BD8-884F-53FE-D51540BA2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56981"/>
            <a:ext cx="3196628" cy="149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2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Job Market for Data Scientists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77056" y="1847089"/>
            <a:ext cx="7664196" cy="467029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PK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/ Data Analyst (AI)</a:t>
            </a:r>
            <a:endParaRPr lang="en-PK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/>
              <a:t>Business Analysts identify opportunities for AI implementation to improve business processes and efficiency.</a:t>
            </a:r>
          </a:p>
          <a:p>
            <a:pPr marL="0" indent="0">
              <a:buNone/>
            </a:pPr>
            <a:r>
              <a:rPr lang="en-US" dirty="0"/>
              <a:t>Key Responsibilities:</a:t>
            </a:r>
          </a:p>
          <a:p>
            <a:pPr lvl="1"/>
            <a:r>
              <a:rPr lang="en-US" dirty="0"/>
              <a:t>Analyzing business operations to identify AI-driven improvements.</a:t>
            </a:r>
          </a:p>
          <a:p>
            <a:pPr lvl="1"/>
            <a:r>
              <a:rPr lang="en-US" dirty="0"/>
              <a:t>Gathering and documenting requirements for AI projects.</a:t>
            </a:r>
          </a:p>
          <a:p>
            <a:pPr lvl="1"/>
            <a:r>
              <a:rPr lang="en-US" dirty="0"/>
              <a:t>Evaluating the impact of AI solutions on business performance.</a:t>
            </a:r>
          </a:p>
          <a:p>
            <a:r>
              <a:rPr lang="en-US" dirty="0"/>
              <a:t>Required Skills:</a:t>
            </a:r>
          </a:p>
          <a:p>
            <a:pPr lvl="1"/>
            <a:r>
              <a:rPr lang="en-US" dirty="0"/>
              <a:t>Expertise in analysis and visualization tools (e.g., Tableau, Power BI).</a:t>
            </a:r>
          </a:p>
          <a:p>
            <a:pPr lvl="1"/>
            <a:r>
              <a:rPr lang="en-US" dirty="0"/>
              <a:t>Excellent communication skills for working with stakeholders.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8EE13DD-7F12-98B5-9C9B-E5E4805E1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1" y="2281535"/>
            <a:ext cx="3282696" cy="153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1485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{3B6CFD88-E465-4D9E-9E60-6FBE58806FE1}tf78853419_win32</Template>
  <TotalTime>350</TotalTime>
  <Words>990</Words>
  <Application>Microsoft Office PowerPoint</Application>
  <PresentationFormat>Widescreen</PresentationFormat>
  <Paragraphs>123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Franklin Gothic Book</vt:lpstr>
      <vt:lpstr>Franklin Gothic Demi</vt:lpstr>
      <vt:lpstr>Custom</vt:lpstr>
      <vt:lpstr>CERTIFIED DATA SCIENTIST</vt:lpstr>
      <vt:lpstr>Agenda</vt:lpstr>
      <vt:lpstr>Group Activity – Brainstorming Project Ideas</vt:lpstr>
      <vt:lpstr>What is the Product Approach?</vt:lpstr>
      <vt:lpstr>Tools to Help You Productize</vt:lpstr>
      <vt:lpstr>Building a Data Science Portfolio</vt:lpstr>
      <vt:lpstr>Example Data Science Portfolio</vt:lpstr>
      <vt:lpstr>Job Market for Data Scientists</vt:lpstr>
      <vt:lpstr>Job Market for Data Scientists</vt:lpstr>
      <vt:lpstr>Job Market for Data Scientists</vt:lpstr>
      <vt:lpstr>Job Market for Data Scientists</vt:lpstr>
      <vt:lpstr>Job Market for Data Scientists</vt:lpstr>
      <vt:lpstr>Job Market for Data Scientists</vt:lpstr>
      <vt:lpstr>Job Market for Data Scientists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Nabeel Ibrahim Khan</dc:creator>
  <cp:lastModifiedBy>Muhammad Nabeel Ibrahim Khan</cp:lastModifiedBy>
  <cp:revision>13</cp:revision>
  <dcterms:created xsi:type="dcterms:W3CDTF">2024-09-23T10:50:51Z</dcterms:created>
  <dcterms:modified xsi:type="dcterms:W3CDTF">2025-03-14T07:12:19Z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