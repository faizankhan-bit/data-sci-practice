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391" r:id="rId7"/>
    <p:sldId id="412" r:id="rId8"/>
    <p:sldId id="413" r:id="rId9"/>
    <p:sldId id="414" r:id="rId10"/>
    <p:sldId id="416" r:id="rId11"/>
    <p:sldId id="415" r:id="rId12"/>
    <p:sldId id="4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6327" autoAdjust="0"/>
  </p:normalViewPr>
  <p:slideViewPr>
    <p:cSldViewPr snapToGrid="0">
      <p:cViewPr varScale="1">
        <p:scale>
          <a:sx n="105" d="100"/>
          <a:sy n="105" d="100"/>
        </p:scale>
        <p:origin x="120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031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05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008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252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584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CERTIFIED DATA SCIENTIST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831B2-714E-24ED-67F5-DFD2973BD730}"/>
              </a:ext>
            </a:extLst>
          </p:cNvPr>
          <p:cNvSpPr txBox="1"/>
          <p:nvPr/>
        </p:nvSpPr>
        <p:spPr>
          <a:xfrm>
            <a:off x="6309904" y="4076438"/>
            <a:ext cx="484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PEOPLE INFORMATION TECHNOLOGY PROGRAM</a:t>
            </a:r>
          </a:p>
          <a:p>
            <a:r>
              <a:rPr lang="en-US" dirty="0">
                <a:solidFill>
                  <a:schemeClr val="bg1"/>
                </a:solidFill>
              </a:rPr>
              <a:t>Lecture 02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BF04E-21D3-35CC-8869-5D37997FF84F}"/>
              </a:ext>
            </a:extLst>
          </p:cNvPr>
          <p:cNvSpPr txBox="1"/>
          <p:nvPr/>
        </p:nvSpPr>
        <p:spPr>
          <a:xfrm>
            <a:off x="6309904" y="5783318"/>
            <a:ext cx="484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Muhammad Nabeel Ibrahim Khan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NED University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9"/>
            <a:ext cx="7864475" cy="2702242"/>
          </a:xfrm>
        </p:spPr>
        <p:txBody>
          <a:bodyPr tIns="457200">
            <a:normAutofit/>
          </a:bodyPr>
          <a:lstStyle/>
          <a:p>
            <a:r>
              <a:rPr lang="en-US" dirty="0"/>
              <a:t>Importance of Projects in the Data Science Journey</a:t>
            </a:r>
          </a:p>
          <a:p>
            <a:r>
              <a:rPr lang="en-US" dirty="0"/>
              <a:t>Introduction to Datasets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Why Projects Matter in Your Data Science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397186"/>
          </a:xfrm>
        </p:spPr>
        <p:txBody>
          <a:bodyPr>
            <a:normAutofit/>
          </a:bodyPr>
          <a:lstStyle/>
          <a:p>
            <a:r>
              <a:rPr lang="en-US" dirty="0"/>
              <a:t>Theoretical knowledge is important, but real learning happens when you apply that knowledge to projects.</a:t>
            </a:r>
          </a:p>
          <a:p>
            <a:r>
              <a:rPr lang="en-US" dirty="0"/>
              <a:t>Projects provide tangible proof of skills for potential employers or clients.</a:t>
            </a:r>
          </a:p>
          <a:p>
            <a:r>
              <a:rPr lang="en-US" dirty="0"/>
              <a:t>Projects expose you to real-world data problems, helping you build critical thinking and problem-solving skills.</a:t>
            </a:r>
          </a:p>
          <a:p>
            <a:r>
              <a:rPr lang="en-US" dirty="0"/>
              <a:t>Projects allow you to experience the complete data science pipeline, from data collection to model deployment.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Types of Projects to Work 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098357"/>
            <a:ext cx="7810500" cy="4473887"/>
          </a:xfrm>
        </p:spPr>
        <p:txBody>
          <a:bodyPr>
            <a:normAutofit/>
          </a:bodyPr>
          <a:lstStyle/>
          <a:p>
            <a:r>
              <a:rPr lang="en-US" b="1" dirty="0"/>
              <a:t>Beginner Projects</a:t>
            </a:r>
            <a:r>
              <a:rPr lang="en-US" dirty="0"/>
              <a:t>: Start with simple datasets (e.g., Iris dataset, Titanic dataset).</a:t>
            </a:r>
          </a:p>
          <a:p>
            <a:r>
              <a:rPr lang="en-US" b="1" dirty="0"/>
              <a:t>Intermediate Projects</a:t>
            </a:r>
            <a:r>
              <a:rPr lang="en-US" dirty="0"/>
              <a:t>: Work on real-world datasets involving significant data cleaning and feature engineering (e.g., Kaggle competitions).</a:t>
            </a:r>
          </a:p>
          <a:p>
            <a:r>
              <a:rPr lang="en-US" b="1" dirty="0"/>
              <a:t>Advanced Projects</a:t>
            </a:r>
            <a:r>
              <a:rPr lang="en-US" dirty="0"/>
              <a:t>: Build end-to-end projects that include deployment, automation, and monitoring (e.g., fraud detection system, recommendation engine).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1063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What is a Dataset?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098357"/>
            <a:ext cx="7810500" cy="4473887"/>
          </a:xfrm>
        </p:spPr>
        <p:txBody>
          <a:bodyPr>
            <a:normAutofit/>
          </a:bodyPr>
          <a:lstStyle/>
          <a:p>
            <a:r>
              <a:rPr lang="en-US" dirty="0"/>
              <a:t>A dataset is a collection of data. It can contain rows and columns, where:</a:t>
            </a:r>
          </a:p>
          <a:p>
            <a:pPr lvl="1"/>
            <a:r>
              <a:rPr lang="en-US" dirty="0"/>
              <a:t>Rows represent individual observations or records (e.g., a customer, a transaction, a plant species).</a:t>
            </a:r>
          </a:p>
          <a:p>
            <a:pPr lvl="1"/>
            <a:r>
              <a:rPr lang="en-US" dirty="0"/>
              <a:t>Columns represent attributes or features of those observations (e.g., name, age, height, species).</a:t>
            </a:r>
          </a:p>
          <a:p>
            <a:r>
              <a:rPr lang="en-US" dirty="0"/>
              <a:t>Types of Datasets:</a:t>
            </a:r>
          </a:p>
          <a:p>
            <a:pPr lvl="1"/>
            <a:r>
              <a:rPr lang="en-US" dirty="0"/>
              <a:t>Structured Data: Organized in rows and columns, such as spreadsheets or CSV files (e.g., Iris dataset).</a:t>
            </a:r>
          </a:p>
          <a:p>
            <a:pPr lvl="1"/>
            <a:r>
              <a:rPr lang="en-US" dirty="0"/>
              <a:t>Unstructured Data: Unorganized in a predefined way, such as images, videos, and text (e.g., raw social media posts).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9412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Example Dataset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098357"/>
            <a:ext cx="7810500" cy="4473887"/>
          </a:xfrm>
        </p:spPr>
        <p:txBody>
          <a:bodyPr>
            <a:normAutofit/>
          </a:bodyPr>
          <a:lstStyle/>
          <a:p>
            <a:r>
              <a:rPr lang="en-US" dirty="0"/>
              <a:t>Iris Dataset: Contains data about Iris flowers species.</a:t>
            </a:r>
          </a:p>
          <a:p>
            <a:r>
              <a:rPr lang="en-US" dirty="0"/>
              <a:t>Data for each flower includes columns like: "Sepal Length", "Sepal Width", "Petal Length", “P</a:t>
            </a:r>
            <a:r>
              <a:rPr lang="en-US" dirty="0">
                <a:solidFill>
                  <a:schemeClr val="bg1"/>
                </a:solidFill>
              </a:rPr>
              <a:t>etal </a:t>
            </a:r>
            <a:r>
              <a:rPr lang="en-US" dirty="0"/>
              <a:t>W</a:t>
            </a:r>
            <a:r>
              <a:rPr lang="en-US" dirty="0">
                <a:solidFill>
                  <a:schemeClr val="bg1"/>
                </a:solidFill>
              </a:rPr>
              <a:t>idth” and </a:t>
            </a:r>
            <a:r>
              <a:rPr lang="en-US" dirty="0"/>
              <a:t>"</a:t>
            </a:r>
            <a:r>
              <a:rPr lang="en-US" b="1" dirty="0"/>
              <a:t>Species</a:t>
            </a:r>
            <a:r>
              <a:rPr lang="en-US" dirty="0"/>
              <a:t>"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1026" name="Picture 2" descr="Image of Iris Setosa">
            <a:extLst>
              <a:ext uri="{FF2B5EF4-FFF2-40B4-BE49-F238E27FC236}">
                <a16:creationId xmlns:a16="http://schemas.microsoft.com/office/drawing/2014/main" id="{38389264-4E87-47C6-9B19-164FBBC49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298523"/>
            <a:ext cx="23812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CCFEF6-9F01-1126-9D1C-6419D69CA36D}"/>
              </a:ext>
            </a:extLst>
          </p:cNvPr>
          <p:cNvSpPr txBox="1"/>
          <p:nvPr/>
        </p:nvSpPr>
        <p:spPr>
          <a:xfrm>
            <a:off x="877824" y="4254568"/>
            <a:ext cx="1755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Iris </a:t>
            </a:r>
            <a:r>
              <a:rPr lang="en-US" sz="1400" dirty="0" err="1">
                <a:solidFill>
                  <a:schemeClr val="bg1"/>
                </a:solidFill>
              </a:rPr>
              <a:t>Setosa</a:t>
            </a:r>
            <a:endParaRPr lang="en-PK" sz="1400" dirty="0">
              <a:solidFill>
                <a:schemeClr val="bg1"/>
              </a:solidFill>
            </a:endParaRPr>
          </a:p>
        </p:txBody>
      </p:sp>
      <p:pic>
        <p:nvPicPr>
          <p:cNvPr id="1028" name="Picture 4" descr="Image of Iris Virginica">
            <a:extLst>
              <a:ext uri="{FF2B5EF4-FFF2-40B4-BE49-F238E27FC236}">
                <a16:creationId xmlns:a16="http://schemas.microsoft.com/office/drawing/2014/main" id="{AFB084B5-6B0E-0656-3515-F5A34E6E5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7014" y="4667244"/>
            <a:ext cx="23812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0E4ABD-82DF-3DF6-0375-079A7D7899F6}"/>
              </a:ext>
            </a:extLst>
          </p:cNvPr>
          <p:cNvSpPr txBox="1"/>
          <p:nvPr/>
        </p:nvSpPr>
        <p:spPr>
          <a:xfrm>
            <a:off x="10113264" y="6579744"/>
            <a:ext cx="1581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Iris Virginica</a:t>
            </a:r>
            <a:endParaRPr lang="en-PK" sz="1400" dirty="0">
              <a:solidFill>
                <a:schemeClr val="bg1"/>
              </a:solidFill>
            </a:endParaRPr>
          </a:p>
        </p:txBody>
      </p:sp>
      <p:pic>
        <p:nvPicPr>
          <p:cNvPr id="1030" name="Picture 6" descr="Difference Between Sepals and Petals (with Comparison Chart) - Biology  Reader">
            <a:extLst>
              <a:ext uri="{FF2B5EF4-FFF2-40B4-BE49-F238E27FC236}">
                <a16:creationId xmlns:a16="http://schemas.microsoft.com/office/drawing/2014/main" id="{ABC182D3-C6E1-2DFB-2C29-0A1273856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464" y="3622798"/>
            <a:ext cx="2718054" cy="174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84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Example Dataset (Cont’d)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098357"/>
            <a:ext cx="7810500" cy="4473887"/>
          </a:xfrm>
        </p:spPr>
        <p:txBody>
          <a:bodyPr>
            <a:normAutofit/>
          </a:bodyPr>
          <a:lstStyle/>
          <a:p>
            <a:r>
              <a:rPr lang="en-US" dirty="0"/>
              <a:t>Iris dataset is considered beginner-friendly for several reasons:</a:t>
            </a:r>
          </a:p>
          <a:p>
            <a:pPr lvl="1"/>
            <a:r>
              <a:rPr lang="en-US" dirty="0"/>
              <a:t>The dataset contains only 150 instances, making it easy to </a:t>
            </a:r>
            <a:r>
              <a:rPr lang="en-US" b="1" dirty="0"/>
              <a:t>load</a:t>
            </a:r>
            <a:r>
              <a:rPr lang="en-US" dirty="0"/>
              <a:t> and </a:t>
            </a:r>
            <a:r>
              <a:rPr lang="en-US" b="1" dirty="0"/>
              <a:t>manipulate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There are only four features (sepal length, sepal width, petal length, and petal width), simplifying analysis and visualization.</a:t>
            </a:r>
          </a:p>
          <a:p>
            <a:pPr lvl="1"/>
            <a:r>
              <a:rPr lang="en-US" dirty="0"/>
              <a:t>The three species are relatively well-separated, making it easier to build accurate models.</a:t>
            </a:r>
          </a:p>
          <a:p>
            <a:pPr lvl="1"/>
            <a:r>
              <a:rPr lang="en-US" dirty="0"/>
              <a:t>The dataset is widely used and well-documented, with plenty of resources available online.   </a:t>
            </a:r>
          </a:p>
          <a:p>
            <a:pPr lvl="1"/>
            <a:r>
              <a:rPr lang="en-US" dirty="0"/>
              <a:t>There are no missing values, eliminating the need for data cleaning or imputation.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50E4ABD-82DF-3DF6-0375-079A7D7899F6}"/>
              </a:ext>
            </a:extLst>
          </p:cNvPr>
          <p:cNvSpPr txBox="1"/>
          <p:nvPr/>
        </p:nvSpPr>
        <p:spPr>
          <a:xfrm>
            <a:off x="10113264" y="6579744"/>
            <a:ext cx="1581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Iris Virginica</a:t>
            </a:r>
            <a:endParaRPr lang="en-PK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607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Example Dataset (Cont’d)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098357"/>
            <a:ext cx="7810500" cy="4473887"/>
          </a:xfrm>
        </p:spPr>
        <p:txBody>
          <a:bodyPr>
            <a:normAutofit/>
          </a:bodyPr>
          <a:lstStyle/>
          <a:p>
            <a:r>
              <a:rPr lang="en-US" dirty="0"/>
              <a:t>Sample data in Iris dataset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16D119-A8C3-8299-0607-3C27A9006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430658"/>
              </p:ext>
            </p:extLst>
          </p:nvPr>
        </p:nvGraphicFramePr>
        <p:xfrm>
          <a:off x="1259586" y="3251023"/>
          <a:ext cx="10382250" cy="2468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30375">
                  <a:extLst>
                    <a:ext uri="{9D8B030D-6E8A-4147-A177-3AD203B41FA5}">
                      <a16:colId xmlns:a16="http://schemas.microsoft.com/office/drawing/2014/main" val="2851840039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938761952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520751613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2747092634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4004584706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4202280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sepal length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sepal width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petal length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petal width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species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880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>
                          <a:solidFill>
                            <a:schemeClr val="bg1"/>
                          </a:solidFill>
                        </a:rPr>
                        <a:t>6.1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4.9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99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5708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548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5.1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799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4.6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solidFill>
                            <a:schemeClr val="bg1"/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535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63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anchor="b">
            <a:normAutofit/>
          </a:bodyPr>
          <a:lstStyle/>
          <a:p>
            <a:r>
              <a:rPr lang="en-US" dirty="0"/>
              <a:t>Group Activity – Brainstorming Project Ideas</a:t>
            </a:r>
          </a:p>
        </p:txBody>
      </p:sp>
      <p:pic>
        <p:nvPicPr>
          <p:cNvPr id="10" name="Picture Placeholder 9" descr="A group of people sitting at a table with laptops and a light bulb above them&#10;&#10;Description automatically generated">
            <a:extLst>
              <a:ext uri="{FF2B5EF4-FFF2-40B4-BE49-F238E27FC236}">
                <a16:creationId xmlns:a16="http://schemas.microsoft.com/office/drawing/2014/main" id="{AD298BB9-B618-44CA-0506-546C619BA4C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94360" y="3013318"/>
            <a:ext cx="4490827" cy="2923883"/>
          </a:xfr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B6311-F936-71AE-6BC0-83F0812D21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Think of a simple data science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What problem does the model solve?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How will the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user interact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with it?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How will you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deploy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the model?</a:t>
            </a:r>
          </a:p>
          <a:p>
            <a:endParaRPr lang="en-PK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{3B6CFD88-E465-4D9E-9E60-6FBE58806FE1}tf78853419_win32</Template>
  <TotalTime>151</TotalTime>
  <Words>546</Words>
  <Application>Microsoft Office PowerPoint</Application>
  <PresentationFormat>Widescreen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Franklin Gothic Book</vt:lpstr>
      <vt:lpstr>Franklin Gothic Demi</vt:lpstr>
      <vt:lpstr>Custom</vt:lpstr>
      <vt:lpstr>CERTIFIED DATA SCIENTIST</vt:lpstr>
      <vt:lpstr>Agenda</vt:lpstr>
      <vt:lpstr>Why Projects Matter in Your Data Science</vt:lpstr>
      <vt:lpstr>Types of Projects to Work On</vt:lpstr>
      <vt:lpstr>What is a Dataset?</vt:lpstr>
      <vt:lpstr>Example Dataset</vt:lpstr>
      <vt:lpstr>Example Dataset (Cont’d)</vt:lpstr>
      <vt:lpstr>Example Dataset (Cont’d)</vt:lpstr>
      <vt:lpstr>Group Activity – Brainstorming Project 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Nabeel Ibrahim Khan</dc:creator>
  <cp:lastModifiedBy>Muhammad Nabeel Ibrahim Khan</cp:lastModifiedBy>
  <cp:revision>11</cp:revision>
  <dcterms:created xsi:type="dcterms:W3CDTF">2024-09-23T10:50:51Z</dcterms:created>
  <dcterms:modified xsi:type="dcterms:W3CDTF">2024-09-26T06:46:03Z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